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58" r:id="rId20"/>
    <p:sldId id="272" r:id="rId21"/>
    <p:sldId id="292" r:id="rId22"/>
    <p:sldId id="293" r:id="rId23"/>
    <p:sldId id="294" r:id="rId24"/>
    <p:sldId id="273" r:id="rId25"/>
    <p:sldId id="274" r:id="rId26"/>
    <p:sldId id="275" r:id="rId27"/>
    <p:sldId id="295" r:id="rId28"/>
    <p:sldId id="260" r:id="rId29"/>
    <p:sldId id="266" r:id="rId30"/>
    <p:sldId id="261" r:id="rId31"/>
    <p:sldId id="262" r:id="rId32"/>
    <p:sldId id="263" r:id="rId33"/>
    <p:sldId id="264" r:id="rId34"/>
    <p:sldId id="265" r:id="rId35"/>
    <p:sldId id="259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270" r:id="rId52"/>
    <p:sldId id="271" r:id="rId53"/>
    <p:sldId id="311" r:id="rId54"/>
    <p:sldId id="313" r:id="rId55"/>
    <p:sldId id="312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405" autoAdjust="0"/>
    <p:restoredTop sz="94660"/>
  </p:normalViewPr>
  <p:slideViewPr>
    <p:cSldViewPr>
      <p:cViewPr varScale="1">
        <p:scale>
          <a:sx n="50" d="100"/>
          <a:sy n="50" d="100"/>
        </p:scale>
        <p:origin x="-64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6608DF3-AD39-4826-ABFD-4D3E79C0E142}" type="datetimeFigureOut">
              <a:rPr lang="en-US" smtClean="0"/>
              <a:pPr/>
              <a:t>7/21/2011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0886A6F-FDF0-4711-8336-6487C7ED77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ARM_architecture" TargetMode="External"/><Relationship Id="rId3" Type="http://schemas.openxmlformats.org/officeDocument/2006/relationships/hyperlink" Target="http://www.altera.com/literature/third-party/archives/ddi0100e_arm_arm.pdf" TargetMode="External"/><Relationship Id="rId7" Type="http://schemas.openxmlformats.org/officeDocument/2006/relationships/hyperlink" Target="http://www.eecg.toronto.edu/~amza/www.mindsec.com/files/x86regs.html" TargetMode="External"/><Relationship Id="rId2" Type="http://schemas.openxmlformats.org/officeDocument/2006/relationships/hyperlink" Target="http://en.wikipedia.org/wiki/X8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enouk.com/Bufferoverflowc/Bufferoverflow1a.html" TargetMode="External"/><Relationship Id="rId5" Type="http://schemas.openxmlformats.org/officeDocument/2006/relationships/hyperlink" Target="http://www.programming.msjc.edu/asm/Unit2/x86MemoryManagement.aspx" TargetMode="External"/><Relationship Id="rId10" Type="http://schemas.openxmlformats.org/officeDocument/2006/relationships/hyperlink" Target="http://en.wikipedia.org/wiki/VAX" TargetMode="External"/><Relationship Id="rId4" Type="http://schemas.openxmlformats.org/officeDocument/2006/relationships/hyperlink" Target="http://home.comcast.net/~fbui/intel.html" TargetMode="External"/><Relationship Id="rId9" Type="http://schemas.openxmlformats.org/officeDocument/2006/relationships/hyperlink" Target="http://www.webopedia.com/TERM/G/granularit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Instruction Sets: Addressing Modes and Formats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400" dirty="0" smtClean="0"/>
              <a:t>Abdullah, Ibrahim</a:t>
            </a:r>
          </a:p>
          <a:p>
            <a:pPr algn="r"/>
            <a:r>
              <a:rPr lang="en-US" sz="1400" dirty="0" smtClean="0"/>
              <a:t>Ali, </a:t>
            </a:r>
            <a:r>
              <a:rPr lang="en-US" sz="1400" dirty="0" err="1" smtClean="0"/>
              <a:t>Javeed</a:t>
            </a:r>
            <a:endParaRPr lang="en-US" sz="1400" dirty="0" smtClean="0"/>
          </a:p>
          <a:p>
            <a:pPr algn="r"/>
            <a:r>
              <a:rPr lang="en-US" sz="1400" dirty="0" err="1" smtClean="0"/>
              <a:t>Budhram</a:t>
            </a:r>
            <a:r>
              <a:rPr lang="en-US" sz="1400" dirty="0" smtClean="0"/>
              <a:t>, </a:t>
            </a:r>
            <a:r>
              <a:rPr lang="en-US" sz="1400" dirty="0" err="1" smtClean="0"/>
              <a:t>Dharmendra</a:t>
            </a:r>
            <a:endParaRPr lang="en-US" sz="1400" dirty="0" smtClean="0"/>
          </a:p>
          <a:p>
            <a:pPr algn="r"/>
            <a:r>
              <a:rPr lang="en-US" sz="1400" dirty="0" err="1" smtClean="0"/>
              <a:t>Galiana</a:t>
            </a:r>
            <a:r>
              <a:rPr lang="en-US" sz="1400" dirty="0" smtClean="0"/>
              <a:t>, Thomas</a:t>
            </a:r>
          </a:p>
          <a:p>
            <a:pPr algn="r"/>
            <a:r>
              <a:rPr lang="en-US" sz="1400" dirty="0" err="1" smtClean="0"/>
              <a:t>Monegro</a:t>
            </a:r>
            <a:r>
              <a:rPr lang="en-US" sz="1400" dirty="0" smtClean="0"/>
              <a:t>, Wesley</a:t>
            </a:r>
          </a:p>
          <a:p>
            <a:pPr algn="r"/>
            <a:r>
              <a:rPr lang="en-US" sz="1400" dirty="0" smtClean="0"/>
              <a:t>Silva, Frank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11.1 Addressing</a:t>
            </a:r>
            <a:endParaRPr lang="en-US" sz="3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Abdullah, Ibrahim</a:t>
            </a:r>
          </a:p>
          <a:p>
            <a:r>
              <a:rPr lang="en-US" dirty="0" err="1" smtClean="0"/>
              <a:t>Budhram</a:t>
            </a:r>
            <a:r>
              <a:rPr lang="en-US" dirty="0" smtClean="0"/>
              <a:t>, </a:t>
            </a:r>
            <a:r>
              <a:rPr lang="en-US" dirty="0" err="1" smtClean="0"/>
              <a:t>Dharmendra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Addressing mode:</a:t>
            </a:r>
          </a:p>
          <a:p>
            <a:pPr>
              <a:buNone/>
            </a:pPr>
            <a:r>
              <a:rPr lang="en-US" dirty="0" smtClean="0"/>
              <a:t>it is a way to represent the address of the data.</a:t>
            </a:r>
          </a:p>
          <a:p>
            <a:pPr>
              <a:buNone/>
            </a:pPr>
            <a:r>
              <a:rPr lang="en-US" dirty="0" smtClean="0"/>
              <a:t>Addressing modes: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Immediate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Direct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Indirect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Register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Register indirect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Displacement</a:t>
            </a:r>
          </a:p>
          <a:p>
            <a:pPr>
              <a:buFont typeface="Arial" charset="0"/>
              <a:buChar char="•"/>
            </a:pPr>
            <a:r>
              <a:rPr lang="en-US" sz="2600" dirty="0" smtClean="0"/>
              <a:t>Stack</a:t>
            </a:r>
          </a:p>
          <a:p>
            <a:pPr>
              <a:buNone/>
            </a:pPr>
            <a:endParaRPr lang="en-US" sz="2600" dirty="0" smtClean="0"/>
          </a:p>
          <a:p>
            <a:pPr>
              <a:buFont typeface="Arial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Immediate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Actual data is stored as an operand in an instruction</a:t>
            </a:r>
          </a:p>
          <a:p>
            <a:r>
              <a:rPr lang="en-US" sz="2400" dirty="0" smtClean="0"/>
              <a:t>Mostly used to initial variables or constants</a:t>
            </a:r>
          </a:p>
          <a:p>
            <a:pPr algn="ctr"/>
            <a:endParaRPr lang="en-US" sz="1800" dirty="0" smtClean="0"/>
          </a:p>
          <a:p>
            <a:pPr algn="ctr"/>
            <a:r>
              <a:rPr lang="en-US" sz="1800" dirty="0" smtClean="0"/>
              <a:t>Operand = Data </a:t>
            </a:r>
          </a:p>
          <a:p>
            <a:pPr algn="ctr"/>
            <a:endParaRPr lang="en-US" sz="1800" dirty="0" smtClean="0"/>
          </a:p>
          <a:p>
            <a:pPr algn="ctr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4191000"/>
          <a:ext cx="6096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6830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memory referencing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Inflexible</a:t>
                      </a:r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r>
                        <a:rPr lang="en-US" dirty="0" smtClean="0"/>
                        <a:t>Fast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size </a:t>
                      </a:r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r>
                        <a:rPr lang="en-US" dirty="0" smtClean="0"/>
                        <a:t>Simple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Group 1031"/>
          <p:cNvGrpSpPr>
            <a:grpSpLocks/>
          </p:cNvGrpSpPr>
          <p:nvPr/>
        </p:nvGrpSpPr>
        <p:grpSpPr bwMode="auto">
          <a:xfrm>
            <a:off x="2209800" y="3352800"/>
            <a:ext cx="4722812" cy="604837"/>
            <a:chOff x="1105" y="1441"/>
            <a:chExt cx="2975" cy="381"/>
          </a:xfrm>
        </p:grpSpPr>
        <p:sp>
          <p:nvSpPr>
            <p:cNvPr id="6" name="Rectangle 1029"/>
            <p:cNvSpPr>
              <a:spLocks noChangeArrowheads="1"/>
            </p:cNvSpPr>
            <p:nvPr/>
          </p:nvSpPr>
          <p:spPr bwMode="auto">
            <a:xfrm>
              <a:off x="1105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030"/>
            <p:cNvSpPr>
              <a:spLocks noChangeShapeType="1"/>
            </p:cNvSpPr>
            <p:nvPr/>
          </p:nvSpPr>
          <p:spPr bwMode="auto">
            <a:xfrm>
              <a:off x="1729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Rectangle 1032"/>
          <p:cNvSpPr>
            <a:spLocks noChangeArrowheads="1"/>
          </p:cNvSpPr>
          <p:nvPr/>
        </p:nvSpPr>
        <p:spPr bwMode="auto">
          <a:xfrm>
            <a:off x="4038600" y="3505200"/>
            <a:ext cx="12303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Operand</a:t>
            </a:r>
          </a:p>
        </p:txBody>
      </p:sp>
      <p:sp>
        <p:nvSpPr>
          <p:cNvPr id="9" name="Rectangle 1033"/>
          <p:cNvSpPr>
            <a:spLocks noChangeArrowheads="1"/>
          </p:cNvSpPr>
          <p:nvPr/>
        </p:nvSpPr>
        <p:spPr bwMode="auto">
          <a:xfrm>
            <a:off x="2209800" y="3505200"/>
            <a:ext cx="11287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 err="1"/>
              <a:t>Opcode</a:t>
            </a:r>
            <a:endParaRPr lang="en-US" dirty="0"/>
          </a:p>
        </p:txBody>
      </p:sp>
      <p:sp>
        <p:nvSpPr>
          <p:cNvPr id="10" name="Rectangle 1034"/>
          <p:cNvSpPr>
            <a:spLocks noChangeArrowheads="1"/>
          </p:cNvSpPr>
          <p:nvPr/>
        </p:nvSpPr>
        <p:spPr bwMode="auto">
          <a:xfrm>
            <a:off x="3657600" y="3048000"/>
            <a:ext cx="150018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dirty="0"/>
              <a:t>Instruction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operand contain the address of Data in the memory</a:t>
            </a:r>
          </a:p>
          <a:p>
            <a:pPr algn="ctr"/>
            <a:r>
              <a:rPr lang="en-US" sz="2000" dirty="0" smtClean="0"/>
              <a:t>EA = A </a:t>
            </a:r>
          </a:p>
          <a:p>
            <a:pPr algn="ctr">
              <a:buNone/>
            </a:pPr>
            <a:r>
              <a:rPr lang="en-US" sz="2000" dirty="0" smtClean="0"/>
              <a:t>Operand = Address</a:t>
            </a:r>
          </a:p>
          <a:p>
            <a:pPr algn="ctr">
              <a:buNone/>
            </a:pPr>
            <a:r>
              <a:rPr lang="en-US" sz="2000" dirty="0" smtClean="0"/>
              <a:t>Address </a:t>
            </a:r>
            <a:r>
              <a:rPr lang="en-US" sz="2000" dirty="0" smtClean="0">
                <a:sym typeface="Wingdings" pitchFamily="2" charset="2"/>
              </a:rPr>
              <a:t> Data</a:t>
            </a:r>
            <a:endParaRPr lang="en-US" sz="2000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4114800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</a:t>
                      </a:r>
                      <a:r>
                        <a:rPr lang="en-US" baseline="0" dirty="0" smtClean="0"/>
                        <a:t> addressing range (operand size)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Takes only one memory cycle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common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 calculation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838200" y="2287588"/>
            <a:ext cx="4722813" cy="604837"/>
            <a:chOff x="913" y="1441"/>
            <a:chExt cx="2975" cy="381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971800" y="2363788"/>
            <a:ext cx="14779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Address A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762000" y="2363788"/>
            <a:ext cx="1128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 err="1"/>
              <a:t>Opcode</a:t>
            </a:r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2514600" y="1830388"/>
            <a:ext cx="15001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Instruction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791200" y="32019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5791200" y="38877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791200" y="45735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791200" y="52593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6324600" y="2668588"/>
            <a:ext cx="12303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Memory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477000" y="4725988"/>
            <a:ext cx="12303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Operand</a:t>
            </a:r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3200400" y="2894013"/>
            <a:ext cx="2590800" cy="2022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273"/>
              </a:cxn>
              <a:cxn ang="0">
                <a:pos x="1631" y="1273"/>
              </a:cxn>
            </a:cxnLst>
            <a:rect l="0" t="0" r="r" b="b"/>
            <a:pathLst>
              <a:path w="1632" h="1274">
                <a:moveTo>
                  <a:pt x="0" y="0"/>
                </a:moveTo>
                <a:lnTo>
                  <a:pt x="0" y="1273"/>
                </a:lnTo>
                <a:lnTo>
                  <a:pt x="1631" y="1273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1800" dirty="0" smtClean="0"/>
              <a:t>EA = (A)</a:t>
            </a:r>
          </a:p>
          <a:p>
            <a:pPr algn="ctr"/>
            <a:r>
              <a:rPr lang="en-US" sz="1800" dirty="0" smtClean="0"/>
              <a:t>Operand = address1</a:t>
            </a:r>
          </a:p>
          <a:p>
            <a:pPr algn="ctr"/>
            <a:r>
              <a:rPr lang="en-US" sz="1800" dirty="0" smtClean="0"/>
              <a:t>Address 1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dirty="0" smtClean="0"/>
              <a:t> Address2</a:t>
            </a:r>
          </a:p>
          <a:p>
            <a:pPr algn="ctr"/>
            <a:r>
              <a:rPr lang="en-US" sz="1800" dirty="0" smtClean="0"/>
              <a:t>Address2 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dirty="0" smtClean="0"/>
              <a:t> Data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4267200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Large Addressing Range 2^N (N word length)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Many memory cycles required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</a:t>
                      </a:r>
                      <a:r>
                        <a:rPr lang="en-US" baseline="0" dirty="0" smtClean="0"/>
                        <a:t> solve the limitation of Direct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Indirect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124200" y="5692775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533401" y="1828800"/>
            <a:ext cx="4648200" cy="604838"/>
            <a:chOff x="336" y="1490"/>
            <a:chExt cx="2975" cy="381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36" y="1490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960" y="1495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514600" y="1905000"/>
            <a:ext cx="147796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Address A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33400" y="1905000"/>
            <a:ext cx="1128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 err="1"/>
              <a:t>Opcode</a:t>
            </a:r>
            <a:endParaRPr lang="en-US" dirty="0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2209800" y="1527175"/>
            <a:ext cx="15001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Instruction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5486400" y="27432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5486400" y="34290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486400" y="41148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5486400" y="48006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5486400" y="54864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248400" y="2441575"/>
            <a:ext cx="12303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6172200" y="4267200"/>
            <a:ext cx="12303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Operand</a:t>
            </a:r>
          </a:p>
        </p:txBody>
      </p:sp>
      <p:sp>
        <p:nvSpPr>
          <p:cNvPr id="18" name="Freeform 19"/>
          <p:cNvSpPr>
            <a:spLocks/>
          </p:cNvSpPr>
          <p:nvPr/>
        </p:nvSpPr>
        <p:spPr bwMode="auto">
          <a:xfrm>
            <a:off x="2895600" y="2473325"/>
            <a:ext cx="2590800" cy="6508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09"/>
              </a:cxn>
              <a:cxn ang="0">
                <a:pos x="1631" y="409"/>
              </a:cxn>
            </a:cxnLst>
            <a:rect l="0" t="0" r="r" b="b"/>
            <a:pathLst>
              <a:path w="1632" h="410">
                <a:moveTo>
                  <a:pt x="0" y="0"/>
                </a:moveTo>
                <a:lnTo>
                  <a:pt x="0" y="409"/>
                </a:lnTo>
                <a:lnTo>
                  <a:pt x="1631" y="409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5564188" y="2894013"/>
            <a:ext cx="24304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Pointer to operand</a:t>
            </a:r>
          </a:p>
        </p:txBody>
      </p:sp>
      <p:sp>
        <p:nvSpPr>
          <p:cNvPr id="20" name="Freeform 21"/>
          <p:cNvSpPr>
            <a:spLocks/>
          </p:cNvSpPr>
          <p:nvPr/>
        </p:nvSpPr>
        <p:spPr bwMode="auto">
          <a:xfrm>
            <a:off x="8075613" y="3084513"/>
            <a:ext cx="230187" cy="1373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" y="0"/>
              </a:cxn>
              <a:cxn ang="0">
                <a:pos x="144" y="864"/>
              </a:cxn>
              <a:cxn ang="0">
                <a:pos x="1" y="864"/>
              </a:cxn>
            </a:cxnLst>
            <a:rect l="0" t="0" r="r" b="b"/>
            <a:pathLst>
              <a:path w="145" h="865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  <a:lnTo>
                  <a:pt x="1" y="86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1800" dirty="0" smtClean="0"/>
              <a:t>EA = R</a:t>
            </a:r>
          </a:p>
          <a:p>
            <a:pPr algn="ctr"/>
            <a:r>
              <a:rPr lang="en-US" sz="1800" dirty="0" smtClean="0"/>
              <a:t>Operand = Register number</a:t>
            </a:r>
          </a:p>
          <a:p>
            <a:pPr algn="ctr"/>
            <a:r>
              <a:rPr lang="en-US" sz="1800" dirty="0" smtClean="0"/>
              <a:t>Register = Data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3657600"/>
          <a:ext cx="6096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 Memory</a:t>
                      </a:r>
                      <a:r>
                        <a:rPr lang="en-US" baseline="0" dirty="0" smtClean="0"/>
                        <a:t> reference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address range</a:t>
                      </a:r>
                      <a:r>
                        <a:rPr lang="en-US" baseline="0" dirty="0" smtClean="0"/>
                        <a:t> </a:t>
                      </a:r>
                    </a:p>
                    <a:p>
                      <a:r>
                        <a:rPr lang="en-US" baseline="0" dirty="0" smtClean="0"/>
                        <a:t>(no of available registers)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Usually use 3-5 bits to address</a:t>
                      </a:r>
                      <a:r>
                        <a:rPr lang="en-US" baseline="0" dirty="0" smtClean="0"/>
                        <a:t> a register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Faster than</a:t>
                      </a:r>
                      <a:r>
                        <a:rPr lang="en-US" baseline="0" dirty="0" smtClean="0"/>
                        <a:t> direct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439988" y="622935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765175" y="2287588"/>
            <a:ext cx="4722813" cy="604837"/>
            <a:chOff x="913" y="1441"/>
            <a:chExt cx="2975" cy="381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060575" y="2363788"/>
            <a:ext cx="25511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 Address R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88975" y="2363788"/>
            <a:ext cx="11287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Opcode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441575" y="1830388"/>
            <a:ext cx="150018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Instruction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718175" y="32019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718175" y="38877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5718175" y="45735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5718175" y="52593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5718175" y="59451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6251575" y="2668588"/>
            <a:ext cx="13144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Registers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403975" y="4725988"/>
            <a:ext cx="12303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Operand</a:t>
            </a:r>
          </a:p>
        </p:txBody>
      </p:sp>
      <p:sp>
        <p:nvSpPr>
          <p:cNvPr id="18" name="Freeform 18"/>
          <p:cNvSpPr>
            <a:spLocks/>
          </p:cNvSpPr>
          <p:nvPr/>
        </p:nvSpPr>
        <p:spPr bwMode="auto">
          <a:xfrm>
            <a:off x="3127375" y="2894013"/>
            <a:ext cx="2590800" cy="2022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273"/>
              </a:cxn>
              <a:cxn ang="0">
                <a:pos x="1631" y="1273"/>
              </a:cxn>
            </a:cxnLst>
            <a:rect l="0" t="0" r="r" b="b"/>
            <a:pathLst>
              <a:path w="1632" h="1274">
                <a:moveTo>
                  <a:pt x="0" y="0"/>
                </a:moveTo>
                <a:lnTo>
                  <a:pt x="0" y="1273"/>
                </a:lnTo>
                <a:lnTo>
                  <a:pt x="1631" y="1273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28600" y="51816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EA = R</a:t>
            </a:r>
          </a:p>
          <a:p>
            <a:pPr algn="ctr"/>
            <a:r>
              <a:rPr lang="en-US" dirty="0" smtClean="0"/>
              <a:t>Operand = address</a:t>
            </a:r>
          </a:p>
          <a:p>
            <a:pPr algn="ctr"/>
            <a:r>
              <a:rPr lang="en-US" dirty="0" smtClean="0"/>
              <a:t>Register =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Indirect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1800" dirty="0" smtClean="0"/>
          </a:p>
          <a:p>
            <a:pPr algn="ctr"/>
            <a:r>
              <a:rPr lang="en-US" sz="1800" dirty="0" smtClean="0"/>
              <a:t>EA = (R)</a:t>
            </a:r>
          </a:p>
          <a:p>
            <a:pPr algn="ctr"/>
            <a:r>
              <a:rPr lang="en-US" sz="1800" dirty="0" smtClean="0"/>
              <a:t>Operand = register number</a:t>
            </a:r>
          </a:p>
          <a:p>
            <a:pPr algn="ctr"/>
            <a:r>
              <a:rPr lang="en-US" sz="1800" dirty="0" smtClean="0"/>
              <a:t>Register = Address</a:t>
            </a:r>
          </a:p>
          <a:p>
            <a:pPr algn="ctr"/>
            <a:r>
              <a:rPr lang="en-US" sz="1800" dirty="0" smtClean="0"/>
              <a:t>Address 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dirty="0" smtClean="0"/>
              <a:t>Data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4495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Large</a:t>
                      </a:r>
                      <a:r>
                        <a:rPr lang="en-US" baseline="0" dirty="0" smtClean="0"/>
                        <a:t> address 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Extra</a:t>
                      </a:r>
                      <a:r>
                        <a:rPr lang="en-US" baseline="0" dirty="0" smtClean="0"/>
                        <a:t> memory cycles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Faster than indirect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Indirect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143000" y="2209800"/>
            <a:ext cx="4722812" cy="604837"/>
            <a:chOff x="913" y="1441"/>
            <a:chExt cx="2975" cy="381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03512" y="2286000"/>
            <a:ext cx="25511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 Address R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066800" y="2286000"/>
            <a:ext cx="11287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Opcode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2819400" y="1752600"/>
            <a:ext cx="150018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Instruction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6096000" y="3046412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096000" y="3732212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096000" y="4418012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096000" y="5103812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6096000" y="5789612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6629400" y="2513012"/>
            <a:ext cx="12303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Memory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781800" y="4570412"/>
            <a:ext cx="12303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Operand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143000" y="37338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1143000" y="44196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1143000" y="51054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1143000" y="57912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1219200" y="4572000"/>
            <a:ext cx="24987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Pointer to Operand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3122612" y="2825750"/>
            <a:ext cx="0" cy="519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1828800" y="3352800"/>
            <a:ext cx="13144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Registers</a:t>
            </a:r>
          </a:p>
        </p:txBody>
      </p:sp>
      <p:sp>
        <p:nvSpPr>
          <p:cNvPr id="24" name="Line 28"/>
          <p:cNvSpPr>
            <a:spLocks noChangeShapeType="1"/>
          </p:cNvSpPr>
          <p:nvPr/>
        </p:nvSpPr>
        <p:spPr bwMode="auto">
          <a:xfrm>
            <a:off x="3732212" y="4722812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1800" dirty="0"/>
              <a:t> </a:t>
            </a:r>
            <a:r>
              <a:rPr lang="en-US" sz="1800" dirty="0" smtClean="0"/>
              <a:t>EA = A (displacement Address)+ (R) (main address)</a:t>
            </a:r>
          </a:p>
          <a:p>
            <a:pPr algn="ctr"/>
            <a:r>
              <a:rPr lang="en-US" sz="1800" dirty="0" smtClean="0"/>
              <a:t>Operand = D-Address , R</a:t>
            </a:r>
          </a:p>
          <a:p>
            <a:pPr algn="ctr"/>
            <a:r>
              <a:rPr lang="en-US" sz="1800" dirty="0" smtClean="0"/>
              <a:t>R =  main Address</a:t>
            </a:r>
          </a:p>
          <a:p>
            <a:pPr algn="ctr"/>
            <a:r>
              <a:rPr lang="en-US" sz="1800" dirty="0" smtClean="0"/>
              <a:t>Main Address + D-address 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dirty="0" smtClean="0"/>
              <a:t>Data</a:t>
            </a:r>
          </a:p>
          <a:p>
            <a:r>
              <a:rPr lang="en-US" sz="2400" dirty="0" smtClean="0"/>
              <a:t>It combines </a:t>
            </a:r>
            <a:r>
              <a:rPr lang="en-US" sz="2400" dirty="0"/>
              <a:t>D</a:t>
            </a:r>
            <a:r>
              <a:rPr lang="en-US" sz="2400" dirty="0" smtClean="0"/>
              <a:t>irect and Register indirect modes</a:t>
            </a:r>
          </a:p>
          <a:p>
            <a:r>
              <a:rPr lang="en-US" sz="2400" dirty="0" smtClean="0"/>
              <a:t> Most common uses : </a:t>
            </a:r>
          </a:p>
          <a:p>
            <a:r>
              <a:rPr lang="en-US" sz="1800" dirty="0" smtClean="0"/>
              <a:t>Relative Addressing.</a:t>
            </a:r>
          </a:p>
          <a:p>
            <a:r>
              <a:rPr lang="en-US" sz="1800" dirty="0" smtClean="0"/>
              <a:t>Index-Base</a:t>
            </a:r>
          </a:p>
          <a:p>
            <a:r>
              <a:rPr lang="en-US" sz="1800" dirty="0" smtClean="0"/>
              <a:t>Register indexing.</a:t>
            </a: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600" y="4572000"/>
          <a:ext cx="609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Disadvantage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 powerful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Need calculation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Flexible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Complexity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to</a:t>
                      </a:r>
                      <a:r>
                        <a:rPr lang="en-US" baseline="0" dirty="0" smtClean="0"/>
                        <a:t> 2^k ( k Address length)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uses to N register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Displacement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44800" y="622935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169988" y="2287588"/>
            <a:ext cx="4722812" cy="604837"/>
            <a:chOff x="913" y="1441"/>
            <a:chExt cx="2975" cy="381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084388" y="2363788"/>
            <a:ext cx="147478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 R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93788" y="2363788"/>
            <a:ext cx="11287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Opcode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6388" y="1830388"/>
            <a:ext cx="150018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Instruction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6122988" y="32019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6122988" y="38877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122988" y="45735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6122988" y="52593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6122988" y="59451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6656388" y="2668588"/>
            <a:ext cx="12303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Memory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808788" y="4725988"/>
            <a:ext cx="123031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Operand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169988" y="38115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169988" y="44973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169988" y="51831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1169988" y="58689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246188" y="4649788"/>
            <a:ext cx="24987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Pointer to Operand</a:t>
            </a: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3149600" y="2903538"/>
            <a:ext cx="0" cy="519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>
            <a:off x="401638" y="3429000"/>
            <a:ext cx="2754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1855788" y="3430588"/>
            <a:ext cx="13144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Registers</a:t>
            </a:r>
          </a:p>
        </p:txBody>
      </p:sp>
      <p:sp>
        <p:nvSpPr>
          <p:cNvPr id="26" name="Freeform 26"/>
          <p:cNvSpPr>
            <a:spLocks/>
          </p:cNvSpPr>
          <p:nvPr/>
        </p:nvSpPr>
        <p:spPr bwMode="auto">
          <a:xfrm>
            <a:off x="406400" y="3429000"/>
            <a:ext cx="763588" cy="14112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88"/>
              </a:cxn>
              <a:cxn ang="0">
                <a:pos x="480" y="888"/>
              </a:cxn>
            </a:cxnLst>
            <a:rect l="0" t="0" r="r" b="b"/>
            <a:pathLst>
              <a:path w="481" h="889">
                <a:moveTo>
                  <a:pt x="0" y="0"/>
                </a:moveTo>
                <a:lnTo>
                  <a:pt x="0" y="888"/>
                </a:lnTo>
                <a:lnTo>
                  <a:pt x="480" y="8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3530600" y="2293938"/>
            <a:ext cx="0" cy="595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3592513" y="2328863"/>
            <a:ext cx="1477962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Address A</a:t>
            </a:r>
          </a:p>
        </p:txBody>
      </p:sp>
      <p:sp>
        <p:nvSpPr>
          <p:cNvPr id="29" name="Oval 29"/>
          <p:cNvSpPr>
            <a:spLocks noChangeArrowheads="1"/>
          </p:cNvSpPr>
          <p:nvPr/>
        </p:nvSpPr>
        <p:spPr bwMode="auto">
          <a:xfrm>
            <a:off x="4522788" y="4727575"/>
            <a:ext cx="530225" cy="4540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4624388" y="4727575"/>
            <a:ext cx="35242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+</a:t>
            </a:r>
          </a:p>
        </p:txBody>
      </p:sp>
      <p:sp>
        <p:nvSpPr>
          <p:cNvPr id="31" name="Line 32"/>
          <p:cNvSpPr>
            <a:spLocks noChangeShapeType="1"/>
          </p:cNvSpPr>
          <p:nvPr/>
        </p:nvSpPr>
        <p:spPr bwMode="auto">
          <a:xfrm>
            <a:off x="4749800" y="2903538"/>
            <a:ext cx="0" cy="166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5029200" y="4953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810000" y="4953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Displacement : Relative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PC contains the main address</a:t>
            </a:r>
          </a:p>
          <a:p>
            <a:pPr algn="ctr"/>
            <a:r>
              <a:rPr lang="en-US" dirty="0" smtClean="0"/>
              <a:t>EA =  PC+ D-address</a:t>
            </a:r>
          </a:p>
          <a:p>
            <a:pPr algn="ctr"/>
            <a:r>
              <a:rPr lang="en-US" dirty="0" smtClean="0"/>
              <a:t>Operand = D-address</a:t>
            </a:r>
          </a:p>
          <a:p>
            <a:pPr algn="ctr"/>
            <a:r>
              <a:rPr lang="en-US" dirty="0" smtClean="0"/>
              <a:t>PC + D-address =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Displacement: Base-register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register contains the main address field</a:t>
            </a:r>
          </a:p>
          <a:p>
            <a:r>
              <a:rPr lang="en-US" dirty="0" smtClean="0"/>
              <a:t>The operand contain the displacement address</a:t>
            </a:r>
          </a:p>
          <a:p>
            <a:r>
              <a:rPr lang="en-US" dirty="0" smtClean="0"/>
              <a:t>It can be used</a:t>
            </a:r>
          </a:p>
          <a:p>
            <a:pPr>
              <a:buNone/>
            </a:pPr>
            <a:r>
              <a:rPr lang="en-US" dirty="0" smtClean="0"/>
              <a:t>		explicitly  (referenced by the instruction)</a:t>
            </a:r>
          </a:p>
          <a:p>
            <a:pPr>
              <a:buNone/>
            </a:pPr>
            <a:r>
              <a:rPr lang="en-US" dirty="0" smtClean="0"/>
              <a:t>	Or</a:t>
            </a:r>
          </a:p>
          <a:p>
            <a:pPr>
              <a:buNone/>
            </a:pPr>
            <a:r>
              <a:rPr lang="en-US" dirty="0" smtClean="0"/>
              <a:t>		implicitly for </a:t>
            </a:r>
            <a:r>
              <a:rPr lang="en-US" dirty="0" err="1" smtClean="0"/>
              <a:t>e.g</a:t>
            </a:r>
            <a:r>
              <a:rPr lang="en-US" dirty="0" smtClean="0"/>
              <a:t> : segments register in X86 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Displacement: 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Address field references a main address in the memory and the register references a positive displacement</a:t>
            </a:r>
          </a:p>
          <a:p>
            <a:r>
              <a:rPr lang="en-US" dirty="0" smtClean="0"/>
              <a:t>Similar to Base – register mode , but the opposite.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Addressing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 to Register indirect mode</a:t>
            </a:r>
          </a:p>
          <a:p>
            <a:pPr algn="ctr"/>
            <a:r>
              <a:rPr lang="en-US" sz="1800" dirty="0" smtClean="0"/>
              <a:t>Operand = &lt;none&gt;</a:t>
            </a:r>
          </a:p>
          <a:p>
            <a:pPr algn="ctr"/>
            <a:r>
              <a:rPr lang="en-US" sz="1800" dirty="0" smtClean="0"/>
              <a:t>Stack pointer - 1</a:t>
            </a:r>
            <a:r>
              <a:rPr lang="en-US" sz="1800" dirty="0" smtClean="0">
                <a:sym typeface="Wingdings" pitchFamily="2" charset="2"/>
              </a:rPr>
              <a:t> Address</a:t>
            </a:r>
          </a:p>
          <a:p>
            <a:pPr algn="ctr"/>
            <a:r>
              <a:rPr lang="en-US" sz="1800" dirty="0" smtClean="0">
                <a:sym typeface="Wingdings" pitchFamily="2" charset="2"/>
              </a:rPr>
              <a:t>Address  data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1800" y="3200400"/>
            <a:ext cx="2590800" cy="3510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11.2 x86 </a:t>
            </a:r>
            <a:r>
              <a:rPr lang="en-US" sz="3600" dirty="0" smtClean="0"/>
              <a:t>Segment Registers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         x86 Addressing </a:t>
            </a:r>
            <a:r>
              <a:rPr lang="en-US" sz="3600" dirty="0" smtClean="0"/>
              <a:t>Modes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Galiana</a:t>
            </a:r>
            <a:r>
              <a:rPr lang="en-US" dirty="0" smtClean="0"/>
              <a:t>, Thomas</a:t>
            </a:r>
          </a:p>
          <a:p>
            <a:r>
              <a:rPr lang="en-US" dirty="0" smtClean="0"/>
              <a:t>Silva, Frank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x86 is the family of instruction set architectures based on the Intel 8086</a:t>
            </a:r>
          </a:p>
          <a:p>
            <a:r>
              <a:rPr lang="en-US" dirty="0" smtClean="0"/>
              <a:t>This introduced the innovative method of segmentation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Problem: 1 MB of memory space needed addressing (20 address lines); impractical to create a 20 bit register</a:t>
            </a:r>
          </a:p>
          <a:p>
            <a:r>
              <a:rPr lang="en-US" dirty="0" smtClean="0"/>
              <a:t>Solution: divide memory into 64 KB segments and coordinate access using two 16 bit values (offset and segment).</a:t>
            </a:r>
          </a:p>
          <a:p>
            <a:r>
              <a:rPr lang="en-US" dirty="0" smtClean="0"/>
              <a:t>Two modes: Real and Protected; real: linear address is equal to the physical address; protected: the linear address space is different </a:t>
            </a:r>
            <a:r>
              <a:rPr lang="en-US" smtClean="0"/>
              <a:t>(variable) </a:t>
            </a:r>
            <a:r>
              <a:rPr lang="en-US" dirty="0" smtClean="0"/>
              <a:t>and the CPU performs address calculations transparent to the programmer.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pic>
        <p:nvPicPr>
          <p:cNvPr id="4" name="Content Placeholder 3" descr="Memory Segmentation Mechanism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25621" y="2057400"/>
            <a:ext cx="6951300" cy="3581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Segment: 16-bit value identifies a specific 64KB region of memory</a:t>
            </a:r>
          </a:p>
          <a:p>
            <a:r>
              <a:rPr lang="en-US" dirty="0" smtClean="0"/>
              <a:t>Offset: 16-bit value which identifies an exact point within the region</a:t>
            </a:r>
          </a:p>
          <a:p>
            <a:r>
              <a:rPr lang="en-US" dirty="0" smtClean="0"/>
              <a:t>Physical address: segment value is shifted 4 bits to the left then added with the offset to calculate the physical address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six segment registers in the x86.</a:t>
            </a:r>
          </a:p>
          <a:p>
            <a:pPr lvl="1"/>
            <a:r>
              <a:rPr lang="en-US" dirty="0" smtClean="0"/>
              <a:t>the one being used depends on the context of execution and instruction</a:t>
            </a:r>
          </a:p>
          <a:p>
            <a:r>
              <a:rPr lang="en-US" dirty="0" smtClean="0"/>
              <a:t>Originally in the 8086: CS, SS, DS, ES</a:t>
            </a:r>
          </a:p>
          <a:p>
            <a:r>
              <a:rPr lang="en-US" dirty="0" smtClean="0"/>
              <a:t>Added in the 32-bit architecture: FS, 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pic>
        <p:nvPicPr>
          <p:cNvPr id="4" name="Content Placeholder 3" descr="untitled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2590800"/>
            <a:ext cx="6607518" cy="2819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Segment Register (CS): it is the base location of the code section and is used to fetch instructions.</a:t>
            </a:r>
          </a:p>
          <a:p>
            <a:r>
              <a:rPr lang="en-US" dirty="0" smtClean="0"/>
              <a:t>Data Segment Register (DS): it is the default location for variables and is used for data access.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Segment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Stack Segment Register (SS): it is the base location of stack segment.</a:t>
            </a:r>
          </a:p>
          <a:p>
            <a:r>
              <a:rPr lang="en-US" dirty="0" smtClean="0"/>
              <a:t>Extra Segment Registers (ES, FS, GS): available for far pointer addressing such as video memory, etc.</a:t>
            </a:r>
          </a:p>
          <a:p>
            <a:r>
              <a:rPr lang="en-US" dirty="0" smtClean="0"/>
              <a:t>A programmer has to make sure that the allocated memory segment does not overlap (ex. Data with code).  This is done by wisely designating memory segments.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graphicFrame>
        <p:nvGraphicFramePr>
          <p:cNvPr id="30" name="Content Placeholder 29"/>
          <p:cNvGraphicFramePr>
            <a:graphicFrameLocks noGrp="1"/>
          </p:cNvGraphicFramePr>
          <p:nvPr>
            <p:ph idx="1"/>
          </p:nvPr>
        </p:nvGraphicFramePr>
        <p:xfrm>
          <a:off x="457200" y="1774825"/>
          <a:ext cx="8229600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Mode</a:t>
                      </a:r>
                      <a:endParaRPr lang="en-US" sz="28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Algorithm</a:t>
                      </a:r>
                      <a:endParaRPr lang="en-US" sz="28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Immediate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Operand</a:t>
                      </a:r>
                      <a:r>
                        <a:rPr lang="en-US" sz="1600" baseline="0" dirty="0" smtClean="0"/>
                        <a:t> =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Register Operand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R</a:t>
                      </a:r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Displacement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(SR)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Base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(SR) + (B)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Base with Displacement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(SR) + (B)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Scaled Index with Displacement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</a:t>
                      </a:r>
                      <a:r>
                        <a:rPr lang="en-US" sz="1600" baseline="0" dirty="0" smtClean="0"/>
                        <a:t> (SR) + (I) x S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Base with Index and Displacement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(SR) + (B)</a:t>
                      </a:r>
                      <a:r>
                        <a:rPr lang="en-US" sz="1600" baseline="0" dirty="0" smtClean="0"/>
                        <a:t> + (I)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Base with Scaled Index and Displacement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(SR)</a:t>
                      </a:r>
                      <a:r>
                        <a:rPr lang="en-US" sz="1600" baseline="0" dirty="0" smtClean="0"/>
                        <a:t> + (I) x S + (B)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Relative</a:t>
                      </a:r>
                      <a:endParaRPr lang="en-US" sz="1600" dirty="0"/>
                    </a:p>
                  </a:txBody>
                  <a:tcPr marL="147213" marR="147213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 = (PC) + A</a:t>
                      </a:r>
                      <a:endParaRPr lang="en-US" sz="1600" dirty="0"/>
                    </a:p>
                  </a:txBody>
                  <a:tcPr marL="147213" marR="147213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t"/>
            <a:r>
              <a:rPr lang="en-US" dirty="0"/>
              <a:t>LA = linear address</a:t>
            </a:r>
          </a:p>
          <a:p>
            <a:pPr fontAlgn="t"/>
            <a:r>
              <a:rPr lang="en-US" dirty="0"/>
              <a:t>(X) = contents of x</a:t>
            </a:r>
          </a:p>
          <a:p>
            <a:pPr fontAlgn="t"/>
            <a:r>
              <a:rPr lang="en-US" dirty="0"/>
              <a:t>SR = segment register</a:t>
            </a:r>
          </a:p>
          <a:p>
            <a:pPr fontAlgn="t"/>
            <a:r>
              <a:rPr lang="en-US" dirty="0"/>
              <a:t>PC = program counter</a:t>
            </a:r>
          </a:p>
          <a:p>
            <a:pPr fontAlgn="t"/>
            <a:r>
              <a:rPr lang="en-US" dirty="0"/>
              <a:t>A = contents of an address field in the instruction</a:t>
            </a:r>
          </a:p>
          <a:p>
            <a:pPr fontAlgn="t"/>
            <a:r>
              <a:rPr lang="en-US" dirty="0"/>
              <a:t>R = register</a:t>
            </a:r>
          </a:p>
          <a:p>
            <a:pPr fontAlgn="t"/>
            <a:r>
              <a:rPr lang="en-US" dirty="0"/>
              <a:t>B = Base register</a:t>
            </a:r>
          </a:p>
          <a:p>
            <a:pPr fontAlgn="t"/>
            <a:r>
              <a:rPr lang="en-US" dirty="0"/>
              <a:t>I = index register</a:t>
            </a:r>
          </a:p>
          <a:p>
            <a:pPr fontAlgn="t"/>
            <a:r>
              <a:rPr lang="en-US" dirty="0"/>
              <a:t>S = scaling factor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r>
              <a:rPr lang="en-US" b="1" u="sng" dirty="0"/>
              <a:t>Immediate</a:t>
            </a:r>
            <a:r>
              <a:rPr lang="en-US" b="1" u="sng" dirty="0" smtClean="0"/>
              <a:t>: </a:t>
            </a:r>
            <a:r>
              <a:rPr lang="en-US" dirty="0" smtClean="0"/>
              <a:t>the operand is included in the instruction.</a:t>
            </a:r>
          </a:p>
          <a:p>
            <a:r>
              <a:rPr lang="en-US" b="1" u="sng" dirty="0" smtClean="0"/>
              <a:t>Register Operand: </a:t>
            </a:r>
            <a:r>
              <a:rPr lang="en-US" dirty="0" smtClean="0"/>
              <a:t>the operand is located in a register.</a:t>
            </a:r>
          </a:p>
          <a:p>
            <a:r>
              <a:rPr lang="en-US" b="1" u="sng" dirty="0" smtClean="0"/>
              <a:t>Displacement: </a:t>
            </a:r>
            <a:r>
              <a:rPr lang="en-US" dirty="0" smtClean="0"/>
              <a:t>the operand’s offset is contained as a part of the instruction as an 8-, 16-, or 32-bit displacement.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Base: </a:t>
            </a:r>
            <a:r>
              <a:rPr lang="en-US" dirty="0" smtClean="0"/>
              <a:t>specifies one of the 8-, 16-, 32-bit registers contains the effective address (register indirect addressing).</a:t>
            </a:r>
          </a:p>
          <a:p>
            <a:r>
              <a:rPr lang="en-US" b="1" u="sng" dirty="0" smtClean="0"/>
              <a:t>Base with Displacement: </a:t>
            </a:r>
            <a:r>
              <a:rPr lang="en-US" dirty="0" smtClean="0"/>
              <a:t>the instruction includes a displacement to be added to a base register.</a:t>
            </a:r>
          </a:p>
          <a:p>
            <a:r>
              <a:rPr lang="en-US" b="1" u="sng" dirty="0" smtClean="0"/>
              <a:t>Scaled Index with Displacement: </a:t>
            </a:r>
            <a:r>
              <a:rPr lang="en-US" dirty="0" smtClean="0"/>
              <a:t>the instruction includes a displacement to be added to a register (index register).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Base with Index and Displacement:</a:t>
            </a:r>
            <a:r>
              <a:rPr lang="en-US" dirty="0" smtClean="0"/>
              <a:t> sums the contents of the base register, the index register, and a displacement to form the effective address.</a:t>
            </a:r>
          </a:p>
          <a:p>
            <a:r>
              <a:rPr lang="en-US" b="1" u="sng" dirty="0" smtClean="0"/>
              <a:t>Based Scaled Index with Displacement: </a:t>
            </a:r>
            <a:r>
              <a:rPr lang="en-US" dirty="0" smtClean="0"/>
              <a:t>sums the contents of the index register multiplied by a scaling factor, the contents of the base register, and the displacement.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Relative: </a:t>
            </a:r>
            <a:r>
              <a:rPr lang="en-US" dirty="0" smtClean="0"/>
              <a:t>can be used in transfer-of-control instructions.  A displacement is added to the value of the program counter, which either increases or decreases the address in the program counter.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x86 Addressing Modes</a:t>
            </a:r>
            <a:endParaRPr lang="en-US" dirty="0"/>
          </a:p>
        </p:txBody>
      </p:sp>
      <p:pic>
        <p:nvPicPr>
          <p:cNvPr id="4" name="Content Placeholder 3" descr="Picture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53073" y="1774825"/>
            <a:ext cx="6237853" cy="4625975"/>
          </a:xfrm>
        </p:spPr>
      </p:pic>
      <p:sp>
        <p:nvSpPr>
          <p:cNvPr id="5" name="TextBox 4"/>
          <p:cNvSpPr txBox="1"/>
          <p:nvPr/>
        </p:nvSpPr>
        <p:spPr>
          <a:xfrm>
            <a:off x="1524000" y="5943600"/>
            <a:ext cx="4724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x86 Addressing Mode Calculation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11.3 </a:t>
            </a:r>
            <a:r>
              <a:rPr lang="en-US" sz="3600" dirty="0" smtClean="0"/>
              <a:t>Instruction Formats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Ali, </a:t>
            </a:r>
            <a:r>
              <a:rPr lang="en-US" dirty="0" err="1" smtClean="0"/>
              <a:t>Javeed</a:t>
            </a:r>
            <a:endParaRPr lang="en-US" dirty="0" smtClean="0"/>
          </a:p>
          <a:p>
            <a:r>
              <a:rPr lang="en-US" dirty="0" err="1" smtClean="0"/>
              <a:t>Monegro</a:t>
            </a:r>
            <a:r>
              <a:rPr lang="en-US" dirty="0" smtClean="0"/>
              <a:t>, Wesley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Instruction Format:</a:t>
            </a:r>
            <a:r>
              <a:rPr lang="en-US" dirty="0" smtClean="0"/>
              <a:t> The layout of bits of an instruction inherent to its execution.</a:t>
            </a:r>
          </a:p>
          <a:p>
            <a:r>
              <a:rPr lang="en-US" dirty="0" smtClean="0"/>
              <a:t>Made up of an </a:t>
            </a:r>
            <a:r>
              <a:rPr lang="en-US" dirty="0" err="1" smtClean="0">
                <a:solidFill>
                  <a:srgbClr val="FF0000"/>
                </a:solidFill>
              </a:rPr>
              <a:t>opcode</a:t>
            </a:r>
            <a:r>
              <a:rPr lang="en-US" dirty="0" smtClean="0"/>
              <a:t> and zero or more </a:t>
            </a:r>
            <a:r>
              <a:rPr lang="en-US" dirty="0" smtClean="0">
                <a:solidFill>
                  <a:srgbClr val="FF0000"/>
                </a:solidFill>
              </a:rPr>
              <a:t>operands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Regardless of the format, the design must indicate the required addressing mode.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Length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Greatest design issue lies in instruction length</a:t>
            </a:r>
          </a:p>
          <a:p>
            <a:pPr lvl="2"/>
            <a:r>
              <a:rPr lang="en-US" dirty="0" smtClean="0"/>
              <a:t>Speed and ease of use v. Space and cost</a:t>
            </a:r>
          </a:p>
          <a:p>
            <a:pPr lvl="2"/>
            <a:r>
              <a:rPr lang="en-US" dirty="0" smtClean="0"/>
              <a:t>i.e. a 64-bit instruction occupies 2x the space of a 32-bit instruction with less than half the utility.</a:t>
            </a:r>
          </a:p>
          <a:p>
            <a:r>
              <a:rPr lang="en-US" dirty="0" smtClean="0"/>
              <a:t>Determines:</a:t>
            </a:r>
          </a:p>
          <a:p>
            <a:pPr lvl="2"/>
            <a:r>
              <a:rPr lang="en-US" dirty="0" smtClean="0"/>
              <a:t>Memory Size</a:t>
            </a:r>
          </a:p>
          <a:p>
            <a:pPr lvl="2"/>
            <a:r>
              <a:rPr lang="en-US" dirty="0" smtClean="0"/>
              <a:t>Memory Organization</a:t>
            </a:r>
          </a:p>
          <a:p>
            <a:pPr lvl="2"/>
            <a:r>
              <a:rPr lang="en-US" dirty="0" smtClean="0"/>
              <a:t>Bus Structure</a:t>
            </a:r>
          </a:p>
          <a:p>
            <a:pPr lvl="2"/>
            <a:r>
              <a:rPr lang="en-US" dirty="0" smtClean="0"/>
              <a:t>Processor Complexity</a:t>
            </a:r>
          </a:p>
          <a:p>
            <a:pPr lvl="2"/>
            <a:r>
              <a:rPr lang="en-US" dirty="0" smtClean="0"/>
              <a:t>Processor Speed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Length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Ideally, </a:t>
            </a:r>
          </a:p>
          <a:p>
            <a:pPr lvl="1"/>
            <a:r>
              <a:rPr lang="en-US" dirty="0" smtClean="0"/>
              <a:t>instruction length = memory transfer length </a:t>
            </a:r>
          </a:p>
          <a:p>
            <a:pPr lvl="2"/>
            <a:r>
              <a:rPr lang="en-US" dirty="0" smtClean="0"/>
              <a:t>(this is done in order to retrieve an integral number of instructions per fetch cycle)</a:t>
            </a:r>
          </a:p>
          <a:p>
            <a:pPr lvl="1"/>
            <a:r>
              <a:rPr lang="en-US" dirty="0" smtClean="0"/>
              <a:t>instruction length is a multiple of character length.</a:t>
            </a:r>
          </a:p>
          <a:p>
            <a:pPr lvl="2"/>
            <a:r>
              <a:rPr lang="en-US" dirty="0" smtClean="0"/>
              <a:t>This prevents having to bridge a word boundary.</a:t>
            </a:r>
          </a:p>
          <a:p>
            <a:r>
              <a:rPr lang="en-US" dirty="0" smtClean="0"/>
              <a:t>Memory transfer rate</a:t>
            </a:r>
          </a:p>
          <a:p>
            <a:pPr lvl="1"/>
            <a:r>
              <a:rPr lang="en-US" dirty="0" smtClean="0"/>
              <a:t>Not on par with increases in processor speed today.</a:t>
            </a:r>
          </a:p>
          <a:p>
            <a:pPr lvl="1"/>
            <a:r>
              <a:rPr lang="en-US" dirty="0" smtClean="0"/>
              <a:t>Must be considered to avoid having the processor execute instructions faster than it can fetch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of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Opcode</a:t>
            </a:r>
            <a:r>
              <a:rPr lang="en-US" dirty="0" smtClean="0"/>
              <a:t> length v. </a:t>
            </a:r>
            <a:r>
              <a:rPr lang="en-US" dirty="0" smtClean="0">
                <a:solidFill>
                  <a:srgbClr val="FF0000"/>
                </a:solidFill>
              </a:rPr>
              <a:t>Operand</a:t>
            </a:r>
            <a:r>
              <a:rPr lang="en-US" dirty="0" smtClean="0"/>
              <a:t> and addressing length.</a:t>
            </a:r>
          </a:p>
          <a:p>
            <a:pPr lvl="2"/>
            <a:r>
              <a:rPr lang="en-US" dirty="0" smtClean="0"/>
              <a:t>More </a:t>
            </a:r>
            <a:r>
              <a:rPr lang="en-US" dirty="0" err="1" smtClean="0"/>
              <a:t>opcodes</a:t>
            </a:r>
            <a:r>
              <a:rPr lang="en-US" dirty="0" smtClean="0"/>
              <a:t> mean more </a:t>
            </a:r>
            <a:r>
              <a:rPr lang="en-US" dirty="0" err="1" smtClean="0"/>
              <a:t>opcode</a:t>
            </a:r>
            <a:r>
              <a:rPr lang="en-US" dirty="0" smtClean="0"/>
              <a:t> bits and less bits available for addressing.</a:t>
            </a:r>
          </a:p>
          <a:p>
            <a:r>
              <a:rPr lang="en-US" dirty="0" smtClean="0"/>
              <a:t>Factors used in determining use of addressing bits include:</a:t>
            </a:r>
          </a:p>
          <a:p>
            <a:pPr lvl="1"/>
            <a:r>
              <a:rPr lang="en-US" b="1" dirty="0" smtClean="0"/>
              <a:t>Number of addressing modes</a:t>
            </a:r>
            <a:endParaRPr lang="en-US" dirty="0" smtClean="0"/>
          </a:p>
          <a:p>
            <a:pPr lvl="2"/>
            <a:r>
              <a:rPr lang="en-US" dirty="0" smtClean="0"/>
              <a:t>Implicitly or explicitly (i.e. 18-bit pre-byte implicitly used for indexed addressing mode)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of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b="1" dirty="0" smtClean="0"/>
              <a:t>Number of Operands</a:t>
            </a:r>
          </a:p>
          <a:p>
            <a:pPr lvl="2"/>
            <a:r>
              <a:rPr lang="en-US" dirty="0" smtClean="0"/>
              <a:t>Typically 2 operands, as the longer the operand size the longer and more awkward the program.</a:t>
            </a:r>
          </a:p>
          <a:p>
            <a:pPr lvl="2"/>
            <a:r>
              <a:rPr lang="en-US" dirty="0" smtClean="0"/>
              <a:t>Mode Indicators</a:t>
            </a:r>
          </a:p>
          <a:p>
            <a:pPr lvl="1"/>
            <a:r>
              <a:rPr lang="en-US" b="1" dirty="0" smtClean="0"/>
              <a:t>Register v. Memory</a:t>
            </a:r>
          </a:p>
          <a:p>
            <a:pPr lvl="2"/>
            <a:r>
              <a:rPr lang="en-US" dirty="0" smtClean="0"/>
              <a:t>Single-register programming</a:t>
            </a:r>
          </a:p>
          <a:p>
            <a:pPr lvl="3"/>
            <a:r>
              <a:rPr lang="en-US" dirty="0" smtClean="0"/>
              <a:t>No instruction bits required to determine which user-visible register is to be used.</a:t>
            </a:r>
          </a:p>
          <a:p>
            <a:pPr lvl="3"/>
            <a:r>
              <a:rPr lang="en-US" dirty="0" smtClean="0"/>
              <a:t>Slower, requires more instructions.</a:t>
            </a:r>
          </a:p>
          <a:p>
            <a:pPr lvl="2"/>
            <a:r>
              <a:rPr lang="en-US" dirty="0" smtClean="0"/>
              <a:t>Multiple-register programming</a:t>
            </a:r>
          </a:p>
          <a:p>
            <a:pPr lvl="3"/>
            <a:r>
              <a:rPr lang="en-US" dirty="0" smtClean="0"/>
              <a:t>Several bits in </a:t>
            </a:r>
            <a:r>
              <a:rPr lang="en-US" dirty="0" smtClean="0">
                <a:solidFill>
                  <a:srgbClr val="FF0000"/>
                </a:solidFill>
              </a:rPr>
              <a:t>Operand</a:t>
            </a:r>
            <a:r>
              <a:rPr lang="en-US" dirty="0" smtClean="0"/>
              <a:t> portion of the instruction require fewer bits overall.</a:t>
            </a:r>
          </a:p>
          <a:p>
            <a:pPr lvl="3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of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/>
              <a:t>Number of register sets</a:t>
            </a:r>
          </a:p>
          <a:p>
            <a:pPr lvl="2"/>
            <a:r>
              <a:rPr lang="en-US" dirty="0" smtClean="0"/>
              <a:t>Typically 32 registers in one set.</a:t>
            </a:r>
          </a:p>
          <a:p>
            <a:pPr lvl="2"/>
            <a:r>
              <a:rPr lang="en-US" dirty="0" smtClean="0"/>
              <a:t>Using two or more specialized sets requires fewer bits to identify a register within the instruction. (i.e. Data set, Displacement set or as seen in the x86)</a:t>
            </a:r>
          </a:p>
          <a:p>
            <a:pPr lvl="1"/>
            <a:r>
              <a:rPr lang="en-US" b="1" dirty="0" smtClean="0"/>
              <a:t>Address Range</a:t>
            </a:r>
          </a:p>
          <a:p>
            <a:pPr lvl="2"/>
            <a:r>
              <a:rPr lang="en-US" dirty="0" smtClean="0"/>
              <a:t>Range of addresses referenced depends on the number of address bits.</a:t>
            </a:r>
          </a:p>
          <a:p>
            <a:pPr lvl="2"/>
            <a:r>
              <a:rPr lang="en-US" dirty="0" smtClean="0"/>
              <a:t>Direct v. displacement addressing</a:t>
            </a:r>
          </a:p>
          <a:p>
            <a:pPr lvl="3"/>
            <a:r>
              <a:rPr lang="en-US" dirty="0" smtClean="0"/>
              <a:t>Using displacement, the range is then open to the length of the address register instead of the instruction address length.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of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 smtClean="0"/>
              <a:t>Address Granularity</a:t>
            </a:r>
          </a:p>
          <a:p>
            <a:pPr lvl="2"/>
            <a:r>
              <a:rPr lang="en-US" dirty="0" smtClean="0"/>
              <a:t>Granularity: The extent to which a system contains separate components. The greater the granularity the more flexible the system is.</a:t>
            </a:r>
          </a:p>
          <a:p>
            <a:pPr lvl="2"/>
            <a:r>
              <a:rPr lang="en-US" dirty="0" smtClean="0"/>
              <a:t>Designer’s choice</a:t>
            </a:r>
          </a:p>
          <a:p>
            <a:pPr lvl="3"/>
            <a:r>
              <a:rPr lang="en-US" dirty="0" smtClean="0"/>
              <a:t>Address can reference 16-, 32-bit words.</a:t>
            </a:r>
          </a:p>
          <a:p>
            <a:pPr lvl="3"/>
            <a:r>
              <a:rPr lang="en-US" dirty="0" smtClean="0"/>
              <a:t>Less granularity requires more address bits.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PDP-8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One of the historically more simple machine designs. </a:t>
            </a:r>
          </a:p>
          <a:p>
            <a:pPr lvl="1"/>
            <a:r>
              <a:rPr lang="en-US" dirty="0" smtClean="0"/>
              <a:t>12-bit instructions</a:t>
            </a:r>
          </a:p>
          <a:p>
            <a:pPr lvl="1"/>
            <a:r>
              <a:rPr lang="en-US" dirty="0" smtClean="0"/>
              <a:t>12-bit words</a:t>
            </a:r>
          </a:p>
          <a:p>
            <a:pPr lvl="1"/>
            <a:r>
              <a:rPr lang="en-US" dirty="0" smtClean="0"/>
              <a:t>Single register programming </a:t>
            </a:r>
          </a:p>
          <a:p>
            <a:pPr lvl="2"/>
            <a:r>
              <a:rPr lang="en-US" dirty="0" smtClean="0"/>
              <a:t>Accumulator</a:t>
            </a:r>
          </a:p>
          <a:p>
            <a:pPr lvl="1"/>
            <a:r>
              <a:rPr lang="en-US" dirty="0" smtClean="0"/>
              <a:t>Two 1-bit modifiers</a:t>
            </a:r>
          </a:p>
          <a:p>
            <a:pPr lvl="2"/>
            <a:r>
              <a:rPr lang="en-US" dirty="0" smtClean="0"/>
              <a:t>Referring to page 0 or current page.</a:t>
            </a:r>
          </a:p>
          <a:p>
            <a:pPr lvl="2"/>
            <a:r>
              <a:rPr lang="en-US" dirty="0" smtClean="0"/>
              <a:t>or whether Direct/Indirect addressing is to be used.</a:t>
            </a:r>
          </a:p>
          <a:p>
            <a:pPr lvl="1"/>
            <a:r>
              <a:rPr lang="en-US" dirty="0" smtClean="0"/>
              <a:t>3-bit </a:t>
            </a:r>
            <a:r>
              <a:rPr lang="en-US" dirty="0" err="1" smtClean="0">
                <a:solidFill>
                  <a:srgbClr val="FF0000"/>
                </a:solidFill>
              </a:rPr>
              <a:t>Opcode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with instructions 0-5 using basic format</a:t>
            </a:r>
          </a:p>
          <a:p>
            <a:pPr lvl="2"/>
            <a:r>
              <a:rPr lang="en-US" dirty="0" err="1" smtClean="0"/>
              <a:t>Opcode</a:t>
            </a:r>
            <a:r>
              <a:rPr lang="en-US" dirty="0" smtClean="0"/>
              <a:t> 6 is an input/output instruction</a:t>
            </a:r>
          </a:p>
          <a:p>
            <a:pPr lvl="3"/>
            <a:r>
              <a:rPr lang="en-US" dirty="0" smtClean="0"/>
              <a:t>6 bits select one of 64 devices and remaining 3 specify command</a:t>
            </a:r>
          </a:p>
          <a:p>
            <a:pPr lvl="2"/>
            <a:r>
              <a:rPr lang="en-US" dirty="0" err="1" smtClean="0"/>
              <a:t>Opcode</a:t>
            </a:r>
            <a:r>
              <a:rPr lang="en-US" dirty="0" smtClean="0"/>
              <a:t> 7 is a register reference instruction including three </a:t>
            </a:r>
            <a:r>
              <a:rPr lang="en-US" dirty="0" err="1" smtClean="0"/>
              <a:t>microinstrunction</a:t>
            </a:r>
            <a:r>
              <a:rPr lang="en-US" dirty="0" smtClean="0"/>
              <a:t> groups embedded with single bit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PDP-8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25123" y="1645602"/>
            <a:ext cx="4909077" cy="391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762000" y="5562600"/>
            <a:ext cx="7696200" cy="7921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Simple yet efficient, the PDP-8 supports indirect, displacement, and indexed addressing with a total of 35 instructions.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PDP-10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Opposite to PDP-8 with emphasis on ease of use yet inefficient use of space. Its design is based on:</a:t>
            </a:r>
          </a:p>
          <a:p>
            <a:pPr lvl="1"/>
            <a:r>
              <a:rPr lang="en-US" b="1" dirty="0" err="1" smtClean="0"/>
              <a:t>Orthogonality</a:t>
            </a:r>
            <a:r>
              <a:rPr lang="en-US" b="1" dirty="0" smtClean="0"/>
              <a:t>,</a:t>
            </a:r>
            <a:r>
              <a:rPr lang="en-US" dirty="0" smtClean="0"/>
              <a:t> or the principle by which two variables are independent of each other. </a:t>
            </a:r>
          </a:p>
          <a:p>
            <a:pPr lvl="2"/>
            <a:r>
              <a:rPr lang="en-US" dirty="0" smtClean="0"/>
              <a:t>i.e. PDP-10 address is always computed in the same way, independent of the </a:t>
            </a:r>
            <a:r>
              <a:rPr lang="en-US" dirty="0" err="1" smtClean="0"/>
              <a:t>opcode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Completeness</a:t>
            </a:r>
          </a:p>
          <a:p>
            <a:pPr lvl="2"/>
            <a:r>
              <a:rPr lang="en-US" dirty="0" smtClean="0"/>
              <a:t>Each data type has an identical set of operations.</a:t>
            </a:r>
          </a:p>
          <a:p>
            <a:pPr lvl="1"/>
            <a:r>
              <a:rPr lang="en-US" b="1" dirty="0" smtClean="0"/>
              <a:t>Direct addressing</a:t>
            </a:r>
            <a:r>
              <a:rPr lang="en-US" dirty="0" smtClean="0"/>
              <a:t> is used again for ease of programming.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PDP-10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1"/>
            <a:ext cx="8153400" cy="2971800"/>
          </a:xfrm>
        </p:spPr>
        <p:txBody>
          <a:bodyPr/>
          <a:lstStyle/>
          <a:p>
            <a:r>
              <a:rPr lang="en-US" dirty="0" smtClean="0"/>
              <a:t>36-bit word length</a:t>
            </a:r>
          </a:p>
          <a:p>
            <a:r>
              <a:rPr lang="en-US" dirty="0" smtClean="0"/>
              <a:t>36-bit instruction length</a:t>
            </a:r>
          </a:p>
          <a:p>
            <a:r>
              <a:rPr lang="en-US" dirty="0" smtClean="0"/>
              <a:t>9-bit </a:t>
            </a:r>
            <a:r>
              <a:rPr lang="en-US" dirty="0" err="1" smtClean="0"/>
              <a:t>opcode</a:t>
            </a:r>
            <a:endParaRPr lang="en-US" dirty="0" smtClean="0"/>
          </a:p>
          <a:p>
            <a:pPr lvl="2"/>
            <a:r>
              <a:rPr lang="en-US" dirty="0" smtClean="0"/>
              <a:t>Allows for directly defined instructions</a:t>
            </a:r>
          </a:p>
          <a:p>
            <a:r>
              <a:rPr lang="en-US" dirty="0" smtClean="0"/>
              <a:t>16 general registers</a:t>
            </a:r>
          </a:p>
          <a:p>
            <a:pPr lvl="2"/>
            <a:r>
              <a:rPr lang="en-US" dirty="0" smtClean="0"/>
              <a:t>Indirection bits used for memory locations above 2</a:t>
            </a:r>
            <a:r>
              <a:rPr lang="en-US" baseline="30000" dirty="0" smtClean="0"/>
              <a:t>18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171" y="4495800"/>
            <a:ext cx="8143629" cy="1484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Length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Uses different varieties of instruction lengths to allow for greater efficiency while using less space.</a:t>
            </a:r>
          </a:p>
          <a:p>
            <a:pPr lvl="1"/>
            <a:r>
              <a:rPr lang="en-US" dirty="0" smtClean="0"/>
              <a:t>This does however increase complexity.</a:t>
            </a:r>
          </a:p>
          <a:p>
            <a:r>
              <a:rPr lang="en-US" dirty="0" smtClean="0"/>
              <a:t>PDP-11</a:t>
            </a:r>
          </a:p>
          <a:p>
            <a:pPr lvl="1"/>
            <a:r>
              <a:rPr lang="en-US" dirty="0" smtClean="0"/>
              <a:t>Eight 16-bit registers</a:t>
            </a:r>
          </a:p>
          <a:p>
            <a:pPr lvl="2"/>
            <a:r>
              <a:rPr lang="en-US" dirty="0" smtClean="0"/>
              <a:t>Two used as a stack pointer and program counter</a:t>
            </a:r>
          </a:p>
          <a:p>
            <a:pPr lvl="1"/>
            <a:r>
              <a:rPr lang="en-US" dirty="0" smtClean="0"/>
              <a:t>Uses 13 different formats</a:t>
            </a:r>
          </a:p>
          <a:p>
            <a:pPr lvl="2"/>
            <a:r>
              <a:rPr lang="en-US" dirty="0" err="1" smtClean="0"/>
              <a:t>Opcodes</a:t>
            </a:r>
            <a:r>
              <a:rPr lang="en-US" dirty="0" smtClean="0"/>
              <a:t> vary from 4 to 16-bits in length</a:t>
            </a:r>
          </a:p>
          <a:p>
            <a:pPr lvl="1"/>
            <a:r>
              <a:rPr lang="en-US" dirty="0" smtClean="0"/>
              <a:t>Increased hardware cost and complexity v.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Length Instructions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336194" y="1774825"/>
            <a:ext cx="6471612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Instruction set format designed by Digital Equipment Corporation (DEC) mid 1970s.</a:t>
            </a:r>
          </a:p>
          <a:p>
            <a:r>
              <a:rPr lang="en-US" b="1" dirty="0" smtClean="0"/>
              <a:t>V</a:t>
            </a:r>
            <a:r>
              <a:rPr lang="en-US" dirty="0" smtClean="0"/>
              <a:t>irtual </a:t>
            </a:r>
            <a:r>
              <a:rPr lang="en-US" b="1" dirty="0" smtClean="0"/>
              <a:t>A</a:t>
            </a:r>
            <a:r>
              <a:rPr lang="en-US" dirty="0" smtClean="0"/>
              <a:t>ddress </a:t>
            </a:r>
            <a:r>
              <a:rPr lang="en-US" dirty="0" err="1" smtClean="0"/>
              <a:t>e</a:t>
            </a:r>
            <a:r>
              <a:rPr lang="en-US" b="1" dirty="0" err="1" smtClean="0"/>
              <a:t>X</a:t>
            </a:r>
            <a:r>
              <a:rPr lang="en-US" dirty="0" err="1" smtClean="0"/>
              <a:t>tenstion</a:t>
            </a:r>
            <a:endParaRPr lang="en-US" dirty="0" smtClean="0"/>
          </a:p>
          <a:p>
            <a:r>
              <a:rPr lang="en-US" dirty="0" smtClean="0"/>
              <a:t>Instructions either consist of a 1 or 2-byte </a:t>
            </a:r>
            <a:r>
              <a:rPr lang="en-US" dirty="0" err="1" smtClean="0">
                <a:solidFill>
                  <a:srgbClr val="FF0000"/>
                </a:solidFill>
              </a:rPr>
              <a:t>opcode</a:t>
            </a:r>
            <a:r>
              <a:rPr lang="en-US" dirty="0" smtClean="0"/>
              <a:t> followed by from 0-6 </a:t>
            </a:r>
            <a:r>
              <a:rPr lang="en-US" dirty="0" smtClean="0">
                <a:solidFill>
                  <a:srgbClr val="FF0000"/>
                </a:solidFill>
              </a:rPr>
              <a:t>operand</a:t>
            </a:r>
            <a:r>
              <a:rPr lang="en-US" dirty="0" smtClean="0"/>
              <a:t> </a:t>
            </a:r>
            <a:r>
              <a:rPr lang="en-US" dirty="0" err="1" smtClean="0"/>
              <a:t>specifiers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Very flexible yet increasingly complex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VAX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733539"/>
            <a:ext cx="4225838" cy="4743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dirty="0" smtClean="0"/>
              <a:t>What are addressing modes?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 smtClean="0"/>
              <a:t>In the x86, how is the physical address calculated?  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 smtClean="0"/>
              <a:t>How is the instruction determined in the x86 base with displacement addressing mode?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 smtClean="0"/>
              <a:t>What is the greatest variable when designing an instruction format?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 smtClean="0"/>
              <a:t>Would a fixed-length instruction be easier to use as a programmer over a variable-length instruction?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3222" indent="-514350">
              <a:buFont typeface="+mj-lt"/>
              <a:buAutoNum type="arabicPeriod" startAt="6"/>
            </a:pPr>
            <a:r>
              <a:rPr lang="en-US" sz="3000" dirty="0" smtClean="0"/>
              <a:t>Which 16-bit value determines a region of memory in the x86?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sz="3000" dirty="0" smtClean="0"/>
              <a:t>Which are the fastest and slowest addressing modes?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sz="3000" dirty="0" smtClean="0"/>
              <a:t>Which addressing mode implicitly defines itself apart from its </a:t>
            </a:r>
            <a:r>
              <a:rPr lang="en-US" sz="3000" dirty="0" err="1" smtClean="0"/>
              <a:t>opcode</a:t>
            </a:r>
            <a:r>
              <a:rPr lang="en-US" sz="3000" dirty="0" smtClean="0"/>
              <a:t>?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sz="3000" dirty="0" smtClean="0"/>
              <a:t>Which is the most flexible addressing mode? 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sz="3000" dirty="0" smtClean="0"/>
              <a:t>What are the most common uses of the displacement addressing mode?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sz="3000" dirty="0" smtClean="0"/>
              <a:t>A way to represent a memory address.  A way to address the data.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3000" dirty="0" smtClean="0"/>
              <a:t>By adding the segment base and the effective address (offset).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800" dirty="0" smtClean="0"/>
              <a:t>The instruction includes a displacement to be added to a base register.  (Segment register + base register + address field in the instruction).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800" dirty="0" smtClean="0"/>
              <a:t>Instruction length.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800" dirty="0" smtClean="0"/>
              <a:t>Fixed-length instructions are more programmer friendly as variable-length instructions can become increasingly complex.</a:t>
            </a:r>
          </a:p>
          <a:p>
            <a:pPr marL="633222" indent="-514350">
              <a:buFont typeface="+mj-lt"/>
              <a:buAutoNum type="arabicPeriod"/>
            </a:pPr>
            <a:endParaRPr lang="en-US" sz="2800" dirty="0" smtClean="0"/>
          </a:p>
          <a:p>
            <a:endParaRPr lang="en-US" sz="3000" dirty="0" smtClean="0"/>
          </a:p>
          <a:p>
            <a:endParaRPr lang="en-US" sz="3000" dirty="0" smtClean="0"/>
          </a:p>
          <a:p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Font typeface="+mj-lt"/>
              <a:buAutoNum type="arabicPeriod" startAt="6"/>
            </a:pPr>
            <a:r>
              <a:rPr lang="en-US" dirty="0" smtClean="0"/>
              <a:t>Segment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dirty="0" smtClean="0"/>
              <a:t>The fastest addressing mode is Immediate whereas the slowest is Displacement.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dirty="0" smtClean="0"/>
              <a:t>Indexed (18-bit </a:t>
            </a:r>
            <a:r>
              <a:rPr lang="en-US" dirty="0" err="1" smtClean="0"/>
              <a:t>prebyte</a:t>
            </a:r>
            <a:r>
              <a:rPr lang="en-US" dirty="0" smtClean="0"/>
              <a:t>)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dirty="0" smtClean="0"/>
              <a:t>Indirect and Direct together or Displacement.</a:t>
            </a:r>
          </a:p>
          <a:p>
            <a:pPr marL="633222" indent="-514350">
              <a:buFont typeface="+mj-lt"/>
              <a:buAutoNum type="arabicPeriod" startAt="6"/>
            </a:pPr>
            <a:r>
              <a:rPr lang="en-US" dirty="0" smtClean="0"/>
              <a:t>Relative, base register, indexing</a:t>
            </a:r>
          </a:p>
          <a:p>
            <a:pPr marL="633222" indent="-514350">
              <a:buFont typeface="+mj-lt"/>
              <a:buAutoNum type="arabicPeriod" startAt="6"/>
            </a:pPr>
            <a:endParaRPr lang="en-US" dirty="0" smtClean="0"/>
          </a:p>
          <a:p>
            <a:pPr marL="633222" indent="-514350">
              <a:buFont typeface="+mj-lt"/>
              <a:buAutoNum type="arabicPeriod" startAt="6"/>
            </a:pPr>
            <a:endParaRPr lang="en-US" dirty="0" smtClean="0"/>
          </a:p>
          <a:p>
            <a:pPr marL="633222" indent="-514350">
              <a:buFont typeface="+mj-lt"/>
              <a:buAutoNum type="arabicPeriod" startAt="6"/>
            </a:pPr>
            <a:endParaRPr lang="en-US" dirty="0" smtClean="0"/>
          </a:p>
          <a:p>
            <a:pPr marL="633222" indent="-514350">
              <a:buFont typeface="+mj-lt"/>
              <a:buAutoNum type="arabicPeriod" startAt="6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Works Cited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 smtClean="0">
                <a:hlinkClick r:id="rId2"/>
              </a:rPr>
              <a:t>http://en.wikipedia.org/wiki/X86</a:t>
            </a:r>
            <a:endParaRPr lang="en-US" sz="1400" dirty="0" smtClean="0"/>
          </a:p>
          <a:p>
            <a:r>
              <a:rPr lang="en-US" sz="1400" dirty="0" smtClean="0">
                <a:hlinkClick r:id="rId3"/>
              </a:rPr>
              <a:t>http://www.altera.com/literature/third-party/archives/ddi0100e_arm_arm.pdf</a:t>
            </a:r>
            <a:endParaRPr lang="en-US" sz="1400" dirty="0" smtClean="0"/>
          </a:p>
          <a:p>
            <a:r>
              <a:rPr lang="en-US" sz="1400" dirty="0" smtClean="0">
                <a:hlinkClick r:id="rId4"/>
              </a:rPr>
              <a:t>http://home.comcast.net/~fbui/intel.html</a:t>
            </a:r>
            <a:endParaRPr lang="en-US" sz="1400" dirty="0" smtClean="0"/>
          </a:p>
          <a:p>
            <a:r>
              <a:rPr lang="en-US" sz="1400" dirty="0" smtClean="0">
                <a:hlinkClick r:id="rId5"/>
              </a:rPr>
              <a:t>http://www.programming.msjc.edu/asm/Unit2/x86MemoryManagement.aspx</a:t>
            </a:r>
            <a:endParaRPr lang="en-US" sz="1400" dirty="0" smtClean="0"/>
          </a:p>
          <a:p>
            <a:r>
              <a:rPr lang="en-US" sz="1400" dirty="0" smtClean="0">
                <a:hlinkClick r:id="rId6"/>
              </a:rPr>
              <a:t>http://www.tenouk.com/Bufferoverflowc/Bufferoverflow1a.html</a:t>
            </a:r>
            <a:endParaRPr lang="en-US" sz="1400" dirty="0" smtClean="0"/>
          </a:p>
          <a:p>
            <a:r>
              <a:rPr lang="en-US" sz="1400" dirty="0" smtClean="0">
                <a:hlinkClick r:id="rId7"/>
              </a:rPr>
              <a:t>http://www.eecg.toronto.edu/~amza/www.mindsec.com/files/x86regs.html</a:t>
            </a:r>
            <a:endParaRPr lang="en-US" sz="1400" dirty="0" smtClean="0"/>
          </a:p>
          <a:p>
            <a:r>
              <a:rPr lang="en-US" sz="1400" dirty="0" smtClean="0">
                <a:hlinkClick r:id="rId8"/>
              </a:rPr>
              <a:t>http://en.wikipedia.org/wiki/ARM_architecture</a:t>
            </a:r>
            <a:endParaRPr lang="en-US" sz="1400" dirty="0" smtClean="0"/>
          </a:p>
          <a:p>
            <a:r>
              <a:rPr lang="en-US" sz="1400" dirty="0" smtClean="0">
                <a:hlinkClick r:id="rId9"/>
              </a:rPr>
              <a:t>http://www.webopedia.com/TERM/G/granularity.html</a:t>
            </a:r>
            <a:endParaRPr lang="en-US" sz="1400" dirty="0" smtClean="0"/>
          </a:p>
          <a:p>
            <a:r>
              <a:rPr lang="en-US" sz="1400" dirty="0" smtClean="0">
                <a:hlinkClick r:id="rId10"/>
              </a:rPr>
              <a:t>http://</a:t>
            </a:r>
            <a:r>
              <a:rPr lang="en-US" sz="1400" dirty="0" smtClean="0">
                <a:hlinkClick r:id="rId10"/>
              </a:rPr>
              <a:t>en.wikipedia.org/wiki/VAX</a:t>
            </a:r>
            <a:endParaRPr lang="en-US" sz="1400" dirty="0" smtClean="0"/>
          </a:p>
          <a:p>
            <a:r>
              <a:rPr lang="en-US" sz="1400" b="1" dirty="0" smtClean="0"/>
              <a:t>Computer Organization and Architecture, 8</a:t>
            </a:r>
            <a:r>
              <a:rPr lang="en-US" sz="1400" b="1" baseline="30000" dirty="0" smtClean="0"/>
              <a:t>th</a:t>
            </a:r>
            <a:r>
              <a:rPr lang="en-US" sz="1400" b="1" dirty="0" smtClean="0"/>
              <a:t> Edition, by William Stallings</a:t>
            </a:r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642</TotalTime>
  <Words>2169</Words>
  <Application>Microsoft Office PowerPoint</Application>
  <PresentationFormat>On-screen Show (4:3)</PresentationFormat>
  <Paragraphs>381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Module</vt:lpstr>
      <vt:lpstr>Instruction Sets: Addressing Modes and Formats</vt:lpstr>
      <vt:lpstr>11.1 Addressing</vt:lpstr>
      <vt:lpstr>Addressing Modes</vt:lpstr>
      <vt:lpstr>Immediate</vt:lpstr>
      <vt:lpstr>Direct</vt:lpstr>
      <vt:lpstr>Direct</vt:lpstr>
      <vt:lpstr>Indirect</vt:lpstr>
      <vt:lpstr>Indirect Diagram</vt:lpstr>
      <vt:lpstr>Register</vt:lpstr>
      <vt:lpstr>Register Diagram</vt:lpstr>
      <vt:lpstr>Register Indirect</vt:lpstr>
      <vt:lpstr>Register Indirect</vt:lpstr>
      <vt:lpstr>Displacement</vt:lpstr>
      <vt:lpstr>Displacement Diagram</vt:lpstr>
      <vt:lpstr>Displacement : Relative Addressing</vt:lpstr>
      <vt:lpstr>Displacement: Base-register Addressing</vt:lpstr>
      <vt:lpstr>Displacement: Indexing</vt:lpstr>
      <vt:lpstr>Stack Addressing mode</vt:lpstr>
      <vt:lpstr>11.2 x86 Segment Registers          x86 Addressing Modes</vt:lpstr>
      <vt:lpstr>Preliminary</vt:lpstr>
      <vt:lpstr>x86 Segment Registers</vt:lpstr>
      <vt:lpstr>x86 Segment Registers</vt:lpstr>
      <vt:lpstr>x86 Segment Registers</vt:lpstr>
      <vt:lpstr>x86 Segment Registers</vt:lpstr>
      <vt:lpstr>x86 Segment Registers</vt:lpstr>
      <vt:lpstr>x86 Segment Registers</vt:lpstr>
      <vt:lpstr>x86 Segment Registers</vt:lpstr>
      <vt:lpstr>x86 Addressing Modes</vt:lpstr>
      <vt:lpstr>x86 Addressing Modes</vt:lpstr>
      <vt:lpstr>x86 Addressing Modes</vt:lpstr>
      <vt:lpstr>x86 Addressing Modes</vt:lpstr>
      <vt:lpstr>x86 Addressing Modes</vt:lpstr>
      <vt:lpstr>x86 Addressing Modes</vt:lpstr>
      <vt:lpstr>x86 Addressing Modes</vt:lpstr>
      <vt:lpstr>11.3 Instruction Formats</vt:lpstr>
      <vt:lpstr>Instruction Format</vt:lpstr>
      <vt:lpstr>Instruction Length</vt:lpstr>
      <vt:lpstr>Instruction Length</vt:lpstr>
      <vt:lpstr>Allocation of Bits</vt:lpstr>
      <vt:lpstr>Allocation of Bits</vt:lpstr>
      <vt:lpstr>Allocation of Bits</vt:lpstr>
      <vt:lpstr>Allocation of Bits</vt:lpstr>
      <vt:lpstr>PDP-8</vt:lpstr>
      <vt:lpstr>PDP-8</vt:lpstr>
      <vt:lpstr>PDP-10</vt:lpstr>
      <vt:lpstr>PDP-10</vt:lpstr>
      <vt:lpstr>Variable Length Instructions</vt:lpstr>
      <vt:lpstr>Variable Length Instructions</vt:lpstr>
      <vt:lpstr>VAX</vt:lpstr>
      <vt:lpstr>VAX</vt:lpstr>
      <vt:lpstr>Questions</vt:lpstr>
      <vt:lpstr>Questions</vt:lpstr>
      <vt:lpstr>Answers</vt:lpstr>
      <vt:lpstr>Answers</vt:lpstr>
      <vt:lpstr>Works Cited</vt:lpstr>
    </vt:vector>
  </TitlesOfParts>
  <Company>FIU-CEC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 Sets: Addressing Modes and Formats</dc:title>
  <dc:creator>fsilv006</dc:creator>
  <cp:lastModifiedBy>fsilv006</cp:lastModifiedBy>
  <cp:revision>83</cp:revision>
  <dcterms:created xsi:type="dcterms:W3CDTF">2011-07-15T00:20:59Z</dcterms:created>
  <dcterms:modified xsi:type="dcterms:W3CDTF">2011-07-21T16:56:41Z</dcterms:modified>
</cp:coreProperties>
</file>